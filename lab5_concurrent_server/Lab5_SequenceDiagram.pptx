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d59671f4-cd4b-c37d-3c6e-830fc0cdc9f4}">
          <p14:sldIdLst>
            <p14:sldId id="256"/>
          </p14:sldIdLst>
        </p14:section>
        <p14:section name="循序圖" id="{f666f577-a56c-4d39-8ba8-ee5eee879578}">
          <p14:sldIdLst>
            <p14:sldId id="257"/>
            <p14:sldId id="258"/>
          </p14:sldIdLst>
        </p14:section>
        <p14:section name="執行結果" id="{c422d35d-8a2a-f882-d6fc-9d516021300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Lab 5 – Concurrent Server　D1211110 陳嘉希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 5 – Concurrent Server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一、循序圖 (Sequence Diagram)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學號 D1211110　姓名 陳嘉希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Lab 2：Client / Server 互相減一的循序圖 (n = 5)</a:t>
            </a:r>
            <a:endParaRPr lang="en-US" sz="3000" dirty="0"/>
          </a:p>
        </p:txBody>
      </p:sp>
      <p:sp>
        <p:nvSpPr>
          <p:cNvPr id="3" name="head-1"/>
          <p:cNvSpPr txBox="1"/>
          <p:nvPr/>
        </p:nvSpPr>
        <p:spPr>
          <a:xfrm>
            <a:off x="2240280" y="10972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BE9D2"/>
          </a:solidFill>
          <a:ln w="19050">
            <a:solidFill>
              <a:srgbClr val="E08A1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Client</a:t>
            </a:r>
            <a:endParaRPr lang="en-US" sz="1400" dirty="0"/>
          </a:p>
        </p:txBody>
      </p:sp>
      <p:sp>
        <p:nvSpPr>
          <p:cNvPr id="4" name="lifeline-2"/>
          <p:cNvSpPr/>
          <p:nvPr/>
        </p:nvSpPr>
        <p:spPr>
          <a:xfrm>
            <a:off x="3108960" y="1600200"/>
            <a:ext cx="0" cy="4663440"/>
          </a:xfrm>
          <a:prstGeom prst="line">
            <a:avLst/>
          </a:prstGeom>
          <a:noFill/>
          <a:ln w="15875">
            <a:solidFill>
              <a:srgbClr val="8A99A8"/>
            </a:solidFill>
            <a:prstDash val="dash"/>
          </a:ln>
        </p:spPr>
      </p:sp>
      <p:sp>
        <p:nvSpPr>
          <p:cNvPr id="5" name="head-3"/>
          <p:cNvSpPr txBox="1"/>
          <p:nvPr/>
        </p:nvSpPr>
        <p:spPr>
          <a:xfrm>
            <a:off x="8183880" y="10972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7EBF1"/>
          </a:solidFill>
          <a:ln w="19050">
            <a:solidFill>
              <a:srgbClr val="0B6E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Server</a:t>
            </a:r>
            <a:endParaRPr lang="en-US" sz="1400" dirty="0"/>
          </a:p>
        </p:txBody>
      </p:sp>
      <p:sp>
        <p:nvSpPr>
          <p:cNvPr id="6" name="lifeline-4"/>
          <p:cNvSpPr/>
          <p:nvPr/>
        </p:nvSpPr>
        <p:spPr>
          <a:xfrm>
            <a:off x="9052560" y="1600200"/>
            <a:ext cx="0" cy="4663440"/>
          </a:xfrm>
          <a:prstGeom prst="line">
            <a:avLst/>
          </a:prstGeom>
          <a:noFill/>
          <a:ln w="15875">
            <a:solidFill>
              <a:srgbClr val="8A99A8"/>
            </a:solidFill>
            <a:prstDash val="dash"/>
          </a:ln>
        </p:spPr>
      </p:sp>
      <p:sp>
        <p:nvSpPr>
          <p:cNvPr id="7" name="activation-5"/>
          <p:cNvSpPr/>
          <p:nvPr/>
        </p:nvSpPr>
        <p:spPr>
          <a:xfrm>
            <a:off x="3035808" y="1874520"/>
            <a:ext cx="146304" cy="3840480"/>
          </a:xfrm>
          <a:prstGeom prst="rect">
            <a:avLst/>
          </a:prstGeom>
          <a:solidFill>
            <a:srgbClr val="E08A1E"/>
          </a:solidFill>
          <a:ln w="6350">
            <a:solidFill>
              <a:srgbClr val="E08A1E"/>
            </a:solidFill>
            <a:prstDash val="solid"/>
          </a:ln>
        </p:spPr>
      </p:sp>
      <p:sp>
        <p:nvSpPr>
          <p:cNvPr id="8" name="activation-6"/>
          <p:cNvSpPr/>
          <p:nvPr/>
        </p:nvSpPr>
        <p:spPr>
          <a:xfrm>
            <a:off x="8979408" y="1874520"/>
            <a:ext cx="146304" cy="3840480"/>
          </a:xfrm>
          <a:prstGeom prst="rect">
            <a:avLst/>
          </a:prstGeom>
          <a:solidFill>
            <a:srgbClr val="0B6E8A"/>
          </a:solidFill>
          <a:ln w="6350">
            <a:solidFill>
              <a:srgbClr val="0B6E8A"/>
            </a:solidFill>
            <a:prstDash val="solid"/>
          </a:ln>
        </p:spPr>
      </p:sp>
      <p:sp>
        <p:nvSpPr>
          <p:cNvPr id="9" name="note-7"/>
          <p:cNvSpPr txBox="1"/>
          <p:nvPr/>
        </p:nvSpPr>
        <p:spPr>
          <a:xfrm>
            <a:off x="9198864" y="15819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7083"/>
                </a:solidFill>
              </a:rPr>
              <a:t>listen()、accept() 等待連線</a:t>
            </a:r>
            <a:endParaRPr lang="en-US" sz="1200" dirty="0"/>
          </a:p>
        </p:txBody>
      </p:sp>
      <p:sp>
        <p:nvSpPr>
          <p:cNvPr id="10" name="note-8"/>
          <p:cNvSpPr txBox="1"/>
          <p:nvPr/>
        </p:nvSpPr>
        <p:spPr>
          <a:xfrm>
            <a:off x="950976" y="1581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7083"/>
                </a:solidFill>
              </a:rPr>
              <a:t>命令列輸入 n = 5</a:t>
            </a:r>
            <a:endParaRPr lang="en-US" sz="1200" dirty="0"/>
          </a:p>
        </p:txBody>
      </p:sp>
      <p:sp>
        <p:nvSpPr>
          <p:cNvPr id="11" name="msg-9"/>
          <p:cNvSpPr/>
          <p:nvPr/>
        </p:nvSpPr>
        <p:spPr>
          <a:xfrm>
            <a:off x="3191256" y="2148840"/>
            <a:ext cx="5779008" cy="0"/>
          </a:xfrm>
          <a:prstGeom prst="line">
            <a:avLst/>
          </a:prstGeom>
          <a:noFill/>
          <a:ln w="19050">
            <a:solidFill>
              <a:srgbClr val="5B7083"/>
            </a:solidFill>
            <a:prstDash val="dash"/>
            <a:tailEnd type="triangle"/>
          </a:ln>
        </p:spPr>
      </p:sp>
      <p:sp>
        <p:nvSpPr>
          <p:cNvPr id="12" name="msg-label-10"/>
          <p:cNvSpPr txBox="1"/>
          <p:nvPr/>
        </p:nvSpPr>
        <p:spPr>
          <a:xfrm>
            <a:off x="320040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083"/>
                </a:solidFill>
              </a:rPr>
              <a:t>connect()  建立 TCP 連線</a:t>
            </a:r>
            <a:endParaRPr lang="en-US" sz="1300" dirty="0"/>
          </a:p>
        </p:txBody>
      </p:sp>
      <p:sp>
        <p:nvSpPr>
          <p:cNvPr id="13" name="msg-11"/>
          <p:cNvSpPr/>
          <p:nvPr/>
        </p:nvSpPr>
        <p:spPr>
          <a:xfrm>
            <a:off x="3191256" y="2606040"/>
            <a:ext cx="577900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4" name="msg-label-12"/>
          <p:cNvSpPr txBox="1"/>
          <p:nvPr/>
        </p:nvSpPr>
        <p:spPr>
          <a:xfrm>
            <a:off x="3200400" y="23134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send(4)</a:t>
            </a:r>
            <a:endParaRPr lang="en-US" sz="1300" dirty="0"/>
          </a:p>
        </p:txBody>
      </p:sp>
      <p:sp>
        <p:nvSpPr>
          <p:cNvPr id="15" name="note-13"/>
          <p:cNvSpPr txBox="1"/>
          <p:nvPr/>
        </p:nvSpPr>
        <p:spPr>
          <a:xfrm>
            <a:off x="9198864" y="24505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B2430"/>
                </a:solidFill>
              </a:rPr>
              <a:t>印出 4，回傳 3</a:t>
            </a:r>
            <a:endParaRPr lang="en-US" sz="1200" dirty="0"/>
          </a:p>
        </p:txBody>
      </p:sp>
      <p:sp>
        <p:nvSpPr>
          <p:cNvPr id="16" name="msg-14"/>
          <p:cNvSpPr/>
          <p:nvPr/>
        </p:nvSpPr>
        <p:spPr>
          <a:xfrm flipH="1">
            <a:off x="3191256" y="3063240"/>
            <a:ext cx="577900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7" name="msg-label-15"/>
          <p:cNvSpPr txBox="1"/>
          <p:nvPr/>
        </p:nvSpPr>
        <p:spPr>
          <a:xfrm>
            <a:off x="3200400" y="27706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send(3)</a:t>
            </a:r>
            <a:endParaRPr lang="en-US" sz="1300" dirty="0"/>
          </a:p>
        </p:txBody>
      </p:sp>
      <p:sp>
        <p:nvSpPr>
          <p:cNvPr id="18" name="note-16"/>
          <p:cNvSpPr txBox="1"/>
          <p:nvPr/>
        </p:nvSpPr>
        <p:spPr>
          <a:xfrm>
            <a:off x="585216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B2430"/>
                </a:solidFill>
              </a:rPr>
              <a:t>印出 3，回傳 2</a:t>
            </a:r>
            <a:endParaRPr lang="en-US" sz="1200" dirty="0"/>
          </a:p>
        </p:txBody>
      </p:sp>
      <p:sp>
        <p:nvSpPr>
          <p:cNvPr id="19" name="msg-17"/>
          <p:cNvSpPr/>
          <p:nvPr/>
        </p:nvSpPr>
        <p:spPr>
          <a:xfrm>
            <a:off x="3191256" y="3520440"/>
            <a:ext cx="577900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0" name="msg-label-18"/>
          <p:cNvSpPr txBox="1"/>
          <p:nvPr/>
        </p:nvSpPr>
        <p:spPr>
          <a:xfrm>
            <a:off x="3200400" y="32278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send(2)</a:t>
            </a:r>
            <a:endParaRPr lang="en-US" sz="1300" dirty="0"/>
          </a:p>
        </p:txBody>
      </p:sp>
      <p:sp>
        <p:nvSpPr>
          <p:cNvPr id="21" name="note-19"/>
          <p:cNvSpPr txBox="1"/>
          <p:nvPr/>
        </p:nvSpPr>
        <p:spPr>
          <a:xfrm>
            <a:off x="9198864" y="3364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B2430"/>
                </a:solidFill>
              </a:rPr>
              <a:t>印出 2，回傳 1</a:t>
            </a:r>
            <a:endParaRPr lang="en-US" sz="1200" dirty="0"/>
          </a:p>
        </p:txBody>
      </p:sp>
      <p:sp>
        <p:nvSpPr>
          <p:cNvPr id="22" name="msg-20"/>
          <p:cNvSpPr/>
          <p:nvPr/>
        </p:nvSpPr>
        <p:spPr>
          <a:xfrm flipH="1">
            <a:off x="3191256" y="3977640"/>
            <a:ext cx="577900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3" name="msg-label-21"/>
          <p:cNvSpPr txBox="1"/>
          <p:nvPr/>
        </p:nvSpPr>
        <p:spPr>
          <a:xfrm>
            <a:off x="3200400" y="36850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send(1)</a:t>
            </a:r>
            <a:endParaRPr lang="en-US" sz="1300" dirty="0"/>
          </a:p>
        </p:txBody>
      </p:sp>
      <p:sp>
        <p:nvSpPr>
          <p:cNvPr id="24" name="note-22"/>
          <p:cNvSpPr txBox="1"/>
          <p:nvPr/>
        </p:nvSpPr>
        <p:spPr>
          <a:xfrm>
            <a:off x="585216" y="3822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B2430"/>
                </a:solidFill>
              </a:rPr>
              <a:t>印出 1，回傳 0</a:t>
            </a:r>
            <a:endParaRPr lang="en-US" sz="1200" dirty="0"/>
          </a:p>
        </p:txBody>
      </p:sp>
      <p:sp>
        <p:nvSpPr>
          <p:cNvPr id="25" name="msg-23"/>
          <p:cNvSpPr/>
          <p:nvPr/>
        </p:nvSpPr>
        <p:spPr>
          <a:xfrm>
            <a:off x="3191256" y="4434840"/>
            <a:ext cx="577900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6" name="msg-label-24"/>
          <p:cNvSpPr txBox="1"/>
          <p:nvPr/>
        </p:nvSpPr>
        <p:spPr>
          <a:xfrm>
            <a:off x="3200400" y="4142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send(0)</a:t>
            </a:r>
            <a:endParaRPr lang="en-US" sz="1300" dirty="0"/>
          </a:p>
        </p:txBody>
      </p:sp>
      <p:sp>
        <p:nvSpPr>
          <p:cNvPr id="27" name="note-25"/>
          <p:cNvSpPr txBox="1"/>
          <p:nvPr/>
        </p:nvSpPr>
        <p:spPr>
          <a:xfrm>
            <a:off x="9198864" y="4279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B2430"/>
                </a:solidFill>
              </a:rPr>
              <a:t>印出 0</a:t>
            </a:r>
            <a:endParaRPr lang="en-US" sz="1200" dirty="0"/>
          </a:p>
        </p:txBody>
      </p:sp>
      <p:sp>
        <p:nvSpPr>
          <p:cNvPr id="28" name="note-26"/>
          <p:cNvSpPr txBox="1"/>
          <p:nvPr/>
        </p:nvSpPr>
        <p:spPr>
          <a:xfrm>
            <a:off x="9198864" y="4690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收到 0 → 結束，通知對方</a:t>
            </a:r>
            <a:endParaRPr lang="en-US" sz="1200" dirty="0"/>
          </a:p>
        </p:txBody>
      </p:sp>
      <p:sp>
        <p:nvSpPr>
          <p:cNvPr id="29" name="msg-27"/>
          <p:cNvSpPr/>
          <p:nvPr/>
        </p:nvSpPr>
        <p:spPr>
          <a:xfrm flipH="1">
            <a:off x="3191256" y="5212080"/>
            <a:ext cx="57790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0" name="msg-label-28"/>
          <p:cNvSpPr txBox="1"/>
          <p:nvPr/>
        </p:nvSpPr>
        <p:spPr>
          <a:xfrm>
            <a:off x="3200400" y="49194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send("END")</a:t>
            </a:r>
            <a:endParaRPr lang="en-US" sz="1300" dirty="0"/>
          </a:p>
        </p:txBody>
      </p:sp>
      <p:sp>
        <p:nvSpPr>
          <p:cNvPr id="31" name="note-29"/>
          <p:cNvSpPr txBox="1"/>
          <p:nvPr/>
        </p:nvSpPr>
        <p:spPr>
          <a:xfrm>
            <a:off x="950976" y="50566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收到 END → 結束</a:t>
            </a:r>
            <a:endParaRPr lang="en-US" sz="1200" dirty="0"/>
          </a:p>
        </p:txBody>
      </p:sp>
      <p:sp>
        <p:nvSpPr>
          <p:cNvPr id="32" name="note-30"/>
          <p:cNvSpPr txBox="1"/>
          <p:nvPr/>
        </p:nvSpPr>
        <p:spPr>
          <a:xfrm>
            <a:off x="1865376" y="5605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7083"/>
                </a:solidFill>
              </a:rPr>
              <a:t>close()</a:t>
            </a:r>
            <a:endParaRPr lang="en-US" sz="1200" dirty="0"/>
          </a:p>
        </p:txBody>
      </p:sp>
      <p:sp>
        <p:nvSpPr>
          <p:cNvPr id="33" name="note-31"/>
          <p:cNvSpPr txBox="1"/>
          <p:nvPr/>
        </p:nvSpPr>
        <p:spPr>
          <a:xfrm>
            <a:off x="9198864" y="5605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7083"/>
                </a:solidFill>
              </a:rPr>
              <a:t>close()</a:t>
            </a:r>
            <a:endParaRPr lang="en-US" sz="1200" dirty="0"/>
          </a:p>
        </p:txBody>
      </p:sp>
      <p:sp>
        <p:nvSpPr>
          <p:cNvPr id="34" name="caption"/>
          <p:cNvSpPr txBox="1"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</a:rPr>
              <a:t>每一方收到整數後印出，減一回傳；收到 0 的一方結束連線，並送出 END 通知對方也結束。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Lab 5：Concurrent Server 循序圖</a:t>
            </a:r>
            <a:endParaRPr lang="en-US" sz="3000" dirty="0"/>
          </a:p>
        </p:txBody>
      </p:sp>
      <p:sp>
        <p:nvSpPr>
          <p:cNvPr id="3" name="head-32"/>
          <p:cNvSpPr txBox="1"/>
          <p:nvPr/>
        </p:nvSpPr>
        <p:spPr>
          <a:xfrm>
            <a:off x="251460" y="105156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BE9D2"/>
          </a:solidFill>
          <a:ln w="19050">
            <a:solidFill>
              <a:srgbClr val="E08A1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Client A (n=3)</a:t>
            </a:r>
            <a:endParaRPr lang="en-US" sz="1400" dirty="0"/>
          </a:p>
        </p:txBody>
      </p:sp>
      <p:sp>
        <p:nvSpPr>
          <p:cNvPr id="4" name="lifeline-33"/>
          <p:cNvSpPr/>
          <p:nvPr/>
        </p:nvSpPr>
        <p:spPr>
          <a:xfrm>
            <a:off x="1143000" y="1554480"/>
            <a:ext cx="0" cy="4709160"/>
          </a:xfrm>
          <a:prstGeom prst="line">
            <a:avLst/>
          </a:prstGeom>
          <a:noFill/>
          <a:ln w="15875">
            <a:solidFill>
              <a:srgbClr val="8A99A8"/>
            </a:solidFill>
            <a:prstDash val="dash"/>
          </a:ln>
        </p:spPr>
      </p:sp>
      <p:sp>
        <p:nvSpPr>
          <p:cNvPr id="5" name="head-34"/>
          <p:cNvSpPr txBox="1"/>
          <p:nvPr/>
        </p:nvSpPr>
        <p:spPr>
          <a:xfrm>
            <a:off x="2354580" y="105156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BE9D2"/>
          </a:solidFill>
          <a:ln w="19050">
            <a:solidFill>
              <a:srgbClr val="E08A1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Client B (n=2)</a:t>
            </a:r>
            <a:endParaRPr lang="en-US" sz="1400" dirty="0"/>
          </a:p>
        </p:txBody>
      </p:sp>
      <p:sp>
        <p:nvSpPr>
          <p:cNvPr id="6" name="lifeline-35"/>
          <p:cNvSpPr/>
          <p:nvPr/>
        </p:nvSpPr>
        <p:spPr>
          <a:xfrm>
            <a:off x="3246120" y="1554480"/>
            <a:ext cx="0" cy="4709160"/>
          </a:xfrm>
          <a:prstGeom prst="line">
            <a:avLst/>
          </a:prstGeom>
          <a:noFill/>
          <a:ln w="15875">
            <a:solidFill>
              <a:srgbClr val="8A99A8"/>
            </a:solidFill>
            <a:prstDash val="dash"/>
          </a:ln>
        </p:spPr>
      </p:sp>
      <p:sp>
        <p:nvSpPr>
          <p:cNvPr id="7" name="head-36"/>
          <p:cNvSpPr txBox="1"/>
          <p:nvPr/>
        </p:nvSpPr>
        <p:spPr>
          <a:xfrm>
            <a:off x="4663440" y="10515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EEF4F8"/>
          </a:solidFill>
          <a:ln w="19050">
            <a:solidFill>
              <a:srgbClr val="0B3C5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Server main thread</a:t>
            </a:r>
            <a:endParaRPr lang="en-US" sz="1400" dirty="0"/>
          </a:p>
        </p:txBody>
      </p:sp>
      <p:sp>
        <p:nvSpPr>
          <p:cNvPr id="8" name="lifeline-37"/>
          <p:cNvSpPr/>
          <p:nvPr/>
        </p:nvSpPr>
        <p:spPr>
          <a:xfrm>
            <a:off x="5715000" y="1554480"/>
            <a:ext cx="0" cy="4709160"/>
          </a:xfrm>
          <a:prstGeom prst="line">
            <a:avLst/>
          </a:prstGeom>
          <a:noFill/>
          <a:ln w="15875">
            <a:solidFill>
              <a:srgbClr val="8A99A8"/>
            </a:solidFill>
            <a:prstDash val="dash"/>
          </a:ln>
        </p:spPr>
      </p:sp>
      <p:sp>
        <p:nvSpPr>
          <p:cNvPr id="9" name="head-38"/>
          <p:cNvSpPr txBox="1"/>
          <p:nvPr/>
        </p:nvSpPr>
        <p:spPr>
          <a:xfrm>
            <a:off x="7360920" y="191109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D7EBF1"/>
          </a:solidFill>
          <a:ln w="19050">
            <a:solidFill>
              <a:srgbClr val="0B6E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Thread 1</a:t>
            </a:r>
            <a:endParaRPr lang="en-US" sz="1400" dirty="0"/>
          </a:p>
        </p:txBody>
      </p:sp>
      <p:sp>
        <p:nvSpPr>
          <p:cNvPr id="10" name="lifeline-39"/>
          <p:cNvSpPr/>
          <p:nvPr/>
        </p:nvSpPr>
        <p:spPr>
          <a:xfrm>
            <a:off x="8092440" y="2414016"/>
            <a:ext cx="0" cy="3849624"/>
          </a:xfrm>
          <a:prstGeom prst="line">
            <a:avLst/>
          </a:prstGeom>
          <a:noFill/>
          <a:ln w="15875">
            <a:solidFill>
              <a:srgbClr val="8A99A8"/>
            </a:solidFill>
            <a:prstDash val="dash"/>
          </a:ln>
        </p:spPr>
      </p:sp>
      <p:sp>
        <p:nvSpPr>
          <p:cNvPr id="11" name="head-40"/>
          <p:cNvSpPr txBox="1"/>
          <p:nvPr/>
        </p:nvSpPr>
        <p:spPr>
          <a:xfrm>
            <a:off x="9738360" y="288401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D7EBF1"/>
          </a:solidFill>
          <a:ln w="19050">
            <a:solidFill>
              <a:srgbClr val="0B6E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Thread 2</a:t>
            </a:r>
            <a:endParaRPr lang="en-US" sz="1400" dirty="0"/>
          </a:p>
        </p:txBody>
      </p:sp>
      <p:sp>
        <p:nvSpPr>
          <p:cNvPr id="12" name="lifeline-41"/>
          <p:cNvSpPr/>
          <p:nvPr/>
        </p:nvSpPr>
        <p:spPr>
          <a:xfrm>
            <a:off x="10469880" y="3386938"/>
            <a:ext cx="0" cy="2876702"/>
          </a:xfrm>
          <a:prstGeom prst="line">
            <a:avLst/>
          </a:prstGeom>
          <a:noFill/>
          <a:ln w="15875">
            <a:solidFill>
              <a:srgbClr val="8A99A8"/>
            </a:solidFill>
            <a:prstDash val="dash"/>
          </a:ln>
        </p:spPr>
      </p:sp>
      <p:sp>
        <p:nvSpPr>
          <p:cNvPr id="13" name="activation-42"/>
          <p:cNvSpPr/>
          <p:nvPr/>
        </p:nvSpPr>
        <p:spPr>
          <a:xfrm>
            <a:off x="5641848" y="1673352"/>
            <a:ext cx="146304" cy="1793138"/>
          </a:xfrm>
          <a:prstGeom prst="rect">
            <a:avLst/>
          </a:prstGeom>
          <a:solidFill>
            <a:srgbClr val="0B3C5D"/>
          </a:solidFill>
          <a:ln w="6350">
            <a:solidFill>
              <a:srgbClr val="0B3C5D"/>
            </a:solidFill>
            <a:prstDash val="solid"/>
          </a:ln>
        </p:spPr>
      </p:sp>
      <p:sp>
        <p:nvSpPr>
          <p:cNvPr id="14" name="note-43"/>
          <p:cNvSpPr txBox="1"/>
          <p:nvPr/>
        </p:nvSpPr>
        <p:spPr>
          <a:xfrm>
            <a:off x="5861304" y="16093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7083"/>
                </a:solidFill>
              </a:rPr>
              <a:t>listen()；accept() 等待</a:t>
            </a:r>
            <a:endParaRPr lang="en-US" sz="1100" dirty="0"/>
          </a:p>
        </p:txBody>
      </p:sp>
      <p:sp>
        <p:nvSpPr>
          <p:cNvPr id="15" name="msg-44"/>
          <p:cNvSpPr/>
          <p:nvPr/>
        </p:nvSpPr>
        <p:spPr>
          <a:xfrm>
            <a:off x="1225296" y="1949501"/>
            <a:ext cx="4407408" cy="0"/>
          </a:xfrm>
          <a:prstGeom prst="line">
            <a:avLst/>
          </a:prstGeom>
          <a:noFill/>
          <a:ln w="19050">
            <a:solidFill>
              <a:srgbClr val="5B7083"/>
            </a:solidFill>
            <a:prstDash val="dash"/>
            <a:tailEnd type="triangle"/>
          </a:ln>
        </p:spPr>
      </p:sp>
      <p:sp>
        <p:nvSpPr>
          <p:cNvPr id="16" name="msg-label-45"/>
          <p:cNvSpPr txBox="1"/>
          <p:nvPr/>
        </p:nvSpPr>
        <p:spPr>
          <a:xfrm>
            <a:off x="1234440" y="1656893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083"/>
                </a:solidFill>
              </a:rPr>
              <a:t>connect</a:t>
            </a:r>
            <a:endParaRPr lang="en-US" sz="1200" dirty="0"/>
          </a:p>
        </p:txBody>
      </p:sp>
      <p:sp>
        <p:nvSpPr>
          <p:cNvPr id="17" name="msg-46"/>
          <p:cNvSpPr/>
          <p:nvPr/>
        </p:nvSpPr>
        <p:spPr>
          <a:xfrm>
            <a:off x="5797296" y="2157984"/>
            <a:ext cx="1481328" cy="0"/>
          </a:xfrm>
          <a:prstGeom prst="line">
            <a:avLst/>
          </a:prstGeom>
          <a:noFill/>
          <a:ln w="19050">
            <a:solidFill>
              <a:srgbClr val="0B6E8A"/>
            </a:solidFill>
            <a:prstDash val="dash"/>
            <a:tailEnd type="triangle"/>
          </a:ln>
        </p:spPr>
      </p:sp>
      <p:sp>
        <p:nvSpPr>
          <p:cNvPr id="18" name="msg-label-47"/>
          <p:cNvSpPr txBox="1"/>
          <p:nvPr/>
        </p:nvSpPr>
        <p:spPr>
          <a:xfrm>
            <a:off x="580644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8A"/>
                </a:solidFill>
              </a:rPr>
              <a:t>建立並 start()</a:t>
            </a:r>
            <a:endParaRPr lang="en-US" sz="1200" dirty="0"/>
          </a:p>
        </p:txBody>
      </p:sp>
      <p:sp>
        <p:nvSpPr>
          <p:cNvPr id="19" name="note-48"/>
          <p:cNvSpPr txBox="1"/>
          <p:nvPr/>
        </p:nvSpPr>
        <p:spPr>
          <a:xfrm>
            <a:off x="3191256" y="2384755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7083"/>
                </a:solidFill>
              </a:rPr>
              <a:t>回到 accept() 等待下一個 Client</a:t>
            </a:r>
            <a:endParaRPr lang="en-US" sz="1100" dirty="0"/>
          </a:p>
        </p:txBody>
      </p:sp>
      <p:sp>
        <p:nvSpPr>
          <p:cNvPr id="20" name="msg-49"/>
          <p:cNvSpPr/>
          <p:nvPr/>
        </p:nvSpPr>
        <p:spPr>
          <a:xfrm>
            <a:off x="3328416" y="2887675"/>
            <a:ext cx="2304288" cy="0"/>
          </a:xfrm>
          <a:prstGeom prst="line">
            <a:avLst/>
          </a:prstGeom>
          <a:noFill/>
          <a:ln w="19050">
            <a:solidFill>
              <a:srgbClr val="5B7083"/>
            </a:solidFill>
            <a:prstDash val="dash"/>
            <a:tailEnd type="triangle"/>
          </a:ln>
        </p:spPr>
      </p:sp>
      <p:sp>
        <p:nvSpPr>
          <p:cNvPr id="21" name="msg-label-50"/>
          <p:cNvSpPr txBox="1"/>
          <p:nvPr/>
        </p:nvSpPr>
        <p:spPr>
          <a:xfrm>
            <a:off x="3337560" y="259506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083"/>
                </a:solidFill>
              </a:rPr>
              <a:t>connect</a:t>
            </a:r>
            <a:endParaRPr lang="en-US" sz="1200" dirty="0"/>
          </a:p>
        </p:txBody>
      </p:sp>
      <p:sp>
        <p:nvSpPr>
          <p:cNvPr id="22" name="msg-51"/>
          <p:cNvSpPr/>
          <p:nvPr/>
        </p:nvSpPr>
        <p:spPr>
          <a:xfrm>
            <a:off x="5797296" y="3130906"/>
            <a:ext cx="3858768" cy="0"/>
          </a:xfrm>
          <a:prstGeom prst="line">
            <a:avLst/>
          </a:prstGeom>
          <a:noFill/>
          <a:ln w="19050">
            <a:solidFill>
              <a:srgbClr val="0B6E8A"/>
            </a:solidFill>
            <a:prstDash val="dash"/>
            <a:tailEnd type="triangle"/>
          </a:ln>
        </p:spPr>
      </p:sp>
      <p:sp>
        <p:nvSpPr>
          <p:cNvPr id="23" name="msg-label-52"/>
          <p:cNvSpPr txBox="1"/>
          <p:nvPr/>
        </p:nvSpPr>
        <p:spPr>
          <a:xfrm>
            <a:off x="5897880" y="283829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E8A"/>
                </a:solidFill>
              </a:rPr>
              <a:t>建立並 start()</a:t>
            </a:r>
            <a:endParaRPr lang="en-US" sz="1200" dirty="0"/>
          </a:p>
        </p:txBody>
      </p:sp>
      <p:sp>
        <p:nvSpPr>
          <p:cNvPr id="24" name="note-53"/>
          <p:cNvSpPr txBox="1"/>
          <p:nvPr/>
        </p:nvSpPr>
        <p:spPr>
          <a:xfrm>
            <a:off x="3739896" y="320131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7083"/>
                </a:solidFill>
              </a:rPr>
              <a:t>繼續 accept() 等待…</a:t>
            </a:r>
            <a:endParaRPr lang="en-US" sz="1100" dirty="0"/>
          </a:p>
        </p:txBody>
      </p:sp>
      <p:sp>
        <p:nvSpPr>
          <p:cNvPr id="25" name="activation-54"/>
          <p:cNvSpPr/>
          <p:nvPr/>
        </p:nvSpPr>
        <p:spPr>
          <a:xfrm>
            <a:off x="1069848" y="1949501"/>
            <a:ext cx="146304" cy="4140403"/>
          </a:xfrm>
          <a:prstGeom prst="rect">
            <a:avLst/>
          </a:prstGeom>
          <a:solidFill>
            <a:srgbClr val="E08A1E"/>
          </a:solidFill>
          <a:ln w="6350">
            <a:solidFill>
              <a:srgbClr val="E08A1E"/>
            </a:solidFill>
            <a:prstDash val="solid"/>
          </a:ln>
        </p:spPr>
      </p:sp>
      <p:sp>
        <p:nvSpPr>
          <p:cNvPr id="26" name="activation-55"/>
          <p:cNvSpPr/>
          <p:nvPr/>
        </p:nvSpPr>
        <p:spPr>
          <a:xfrm>
            <a:off x="3172968" y="2887675"/>
            <a:ext cx="146304" cy="2854757"/>
          </a:xfrm>
          <a:prstGeom prst="rect">
            <a:avLst/>
          </a:prstGeom>
          <a:solidFill>
            <a:srgbClr val="E08A1E"/>
          </a:solidFill>
          <a:ln w="6350">
            <a:solidFill>
              <a:srgbClr val="E08A1E"/>
            </a:solidFill>
            <a:prstDash val="solid"/>
          </a:ln>
        </p:spPr>
      </p:sp>
      <p:sp>
        <p:nvSpPr>
          <p:cNvPr id="27" name="activation-56"/>
          <p:cNvSpPr/>
          <p:nvPr/>
        </p:nvSpPr>
        <p:spPr>
          <a:xfrm>
            <a:off x="8019288" y="2414016"/>
            <a:ext cx="146304" cy="3675888"/>
          </a:xfrm>
          <a:prstGeom prst="rect">
            <a:avLst/>
          </a:prstGeom>
          <a:solidFill>
            <a:srgbClr val="0B6E8A"/>
          </a:solidFill>
          <a:ln w="6350">
            <a:solidFill>
              <a:srgbClr val="0B6E8A"/>
            </a:solidFill>
            <a:prstDash val="solid"/>
          </a:ln>
        </p:spPr>
      </p:sp>
      <p:sp>
        <p:nvSpPr>
          <p:cNvPr id="28" name="activation-57"/>
          <p:cNvSpPr/>
          <p:nvPr/>
        </p:nvSpPr>
        <p:spPr>
          <a:xfrm>
            <a:off x="10396728" y="3386938"/>
            <a:ext cx="146304" cy="2355494"/>
          </a:xfrm>
          <a:prstGeom prst="rect">
            <a:avLst/>
          </a:prstGeom>
          <a:solidFill>
            <a:srgbClr val="0B6E8A"/>
          </a:solidFill>
          <a:ln w="6350">
            <a:solidFill>
              <a:srgbClr val="0B6E8A"/>
            </a:solidFill>
            <a:prstDash val="solid"/>
          </a:ln>
        </p:spPr>
      </p:sp>
      <p:sp>
        <p:nvSpPr>
          <p:cNvPr id="29" name="msg-58"/>
          <p:cNvSpPr/>
          <p:nvPr/>
        </p:nvSpPr>
        <p:spPr>
          <a:xfrm>
            <a:off x="1225296" y="3895344"/>
            <a:ext cx="678484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30" name="msg-label-59"/>
          <p:cNvSpPr txBox="1"/>
          <p:nvPr/>
        </p:nvSpPr>
        <p:spPr>
          <a:xfrm>
            <a:off x="1234440" y="36027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2</a:t>
            </a:r>
            <a:endParaRPr lang="en-US" sz="1300" dirty="0"/>
          </a:p>
        </p:txBody>
      </p:sp>
      <p:sp>
        <p:nvSpPr>
          <p:cNvPr id="31" name="msg-60"/>
          <p:cNvSpPr/>
          <p:nvPr/>
        </p:nvSpPr>
        <p:spPr>
          <a:xfrm>
            <a:off x="3328416" y="4242816"/>
            <a:ext cx="705916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32" name="msg-label-61"/>
          <p:cNvSpPr txBox="1"/>
          <p:nvPr/>
        </p:nvSpPr>
        <p:spPr>
          <a:xfrm>
            <a:off x="3337560" y="39502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1</a:t>
            </a:r>
            <a:endParaRPr lang="en-US" sz="1300" dirty="0"/>
          </a:p>
        </p:txBody>
      </p:sp>
      <p:sp>
        <p:nvSpPr>
          <p:cNvPr id="33" name="msg-62"/>
          <p:cNvSpPr/>
          <p:nvPr/>
        </p:nvSpPr>
        <p:spPr>
          <a:xfrm flipH="1">
            <a:off x="1225296" y="4590288"/>
            <a:ext cx="678484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34" name="msg-label-63"/>
          <p:cNvSpPr txBox="1"/>
          <p:nvPr/>
        </p:nvSpPr>
        <p:spPr>
          <a:xfrm>
            <a:off x="1234440" y="4297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1</a:t>
            </a:r>
            <a:endParaRPr lang="en-US" sz="1300" dirty="0"/>
          </a:p>
        </p:txBody>
      </p:sp>
      <p:sp>
        <p:nvSpPr>
          <p:cNvPr id="35" name="msg-64"/>
          <p:cNvSpPr/>
          <p:nvPr/>
        </p:nvSpPr>
        <p:spPr>
          <a:xfrm flipH="1">
            <a:off x="3328416" y="4937760"/>
            <a:ext cx="705916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36" name="msg-label-65"/>
          <p:cNvSpPr txBox="1"/>
          <p:nvPr/>
        </p:nvSpPr>
        <p:spPr>
          <a:xfrm>
            <a:off x="3337560" y="46451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0</a:t>
            </a:r>
            <a:endParaRPr lang="en-US" sz="1300" dirty="0"/>
          </a:p>
        </p:txBody>
      </p:sp>
      <p:sp>
        <p:nvSpPr>
          <p:cNvPr id="37" name="msg-66"/>
          <p:cNvSpPr/>
          <p:nvPr/>
        </p:nvSpPr>
        <p:spPr>
          <a:xfrm>
            <a:off x="1225296" y="5285232"/>
            <a:ext cx="6784848" cy="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38" name="msg-label-67"/>
          <p:cNvSpPr txBox="1"/>
          <p:nvPr/>
        </p:nvSpPr>
        <p:spPr>
          <a:xfrm>
            <a:off x="1234440" y="499262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0</a:t>
            </a:r>
            <a:endParaRPr lang="en-US" sz="1300" dirty="0"/>
          </a:p>
        </p:txBody>
      </p:sp>
      <p:sp>
        <p:nvSpPr>
          <p:cNvPr id="39" name="msg-68"/>
          <p:cNvSpPr/>
          <p:nvPr/>
        </p:nvSpPr>
        <p:spPr>
          <a:xfrm>
            <a:off x="3328416" y="5632704"/>
            <a:ext cx="705916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40" name="msg-label-69"/>
          <p:cNvSpPr txBox="1"/>
          <p:nvPr/>
        </p:nvSpPr>
        <p:spPr>
          <a:xfrm>
            <a:off x="3337560" y="53400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END</a:t>
            </a:r>
            <a:endParaRPr lang="en-US" sz="1300" dirty="0"/>
          </a:p>
        </p:txBody>
      </p:sp>
      <p:sp>
        <p:nvSpPr>
          <p:cNvPr id="41" name="msg-70"/>
          <p:cNvSpPr/>
          <p:nvPr/>
        </p:nvSpPr>
        <p:spPr>
          <a:xfrm flipH="1">
            <a:off x="1225296" y="5980176"/>
            <a:ext cx="678484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42" name="msg-label-71"/>
          <p:cNvSpPr txBox="1"/>
          <p:nvPr/>
        </p:nvSpPr>
        <p:spPr>
          <a:xfrm>
            <a:off x="1234440" y="56875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END</a:t>
            </a:r>
            <a:endParaRPr lang="en-US" sz="1300" dirty="0"/>
          </a:p>
        </p:txBody>
      </p:sp>
      <p:sp>
        <p:nvSpPr>
          <p:cNvPr id="43" name="note-72"/>
          <p:cNvSpPr txBox="1"/>
          <p:nvPr/>
        </p:nvSpPr>
        <p:spPr>
          <a:xfrm>
            <a:off x="8238744" y="37398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B2430"/>
                </a:solidFill>
              </a:rPr>
              <a:t>印出 2</a:t>
            </a:r>
            <a:endParaRPr lang="en-US" sz="1100" dirty="0"/>
          </a:p>
        </p:txBody>
      </p:sp>
      <p:sp>
        <p:nvSpPr>
          <p:cNvPr id="44" name="note-73"/>
          <p:cNvSpPr txBox="1"/>
          <p:nvPr/>
        </p:nvSpPr>
        <p:spPr>
          <a:xfrm>
            <a:off x="10616184" y="40873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B2430"/>
                </a:solidFill>
              </a:rPr>
              <a:t>印出 1</a:t>
            </a:r>
            <a:endParaRPr lang="en-US" sz="1100" dirty="0"/>
          </a:p>
        </p:txBody>
      </p:sp>
      <p:sp>
        <p:nvSpPr>
          <p:cNvPr id="45" name="note-74"/>
          <p:cNvSpPr txBox="1"/>
          <p:nvPr/>
        </p:nvSpPr>
        <p:spPr>
          <a:xfrm>
            <a:off x="173736" y="44348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B2430"/>
                </a:solidFill>
              </a:rPr>
              <a:t>印出 1</a:t>
            </a:r>
            <a:endParaRPr lang="en-US" sz="1100" dirty="0"/>
          </a:p>
        </p:txBody>
      </p:sp>
      <p:sp>
        <p:nvSpPr>
          <p:cNvPr id="46" name="note-75"/>
          <p:cNvSpPr txBox="1"/>
          <p:nvPr/>
        </p:nvSpPr>
        <p:spPr>
          <a:xfrm>
            <a:off x="2276856" y="47823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B2430"/>
                </a:solidFill>
              </a:rPr>
              <a:t>印出 0</a:t>
            </a:r>
            <a:endParaRPr lang="en-US" sz="1100" dirty="0"/>
          </a:p>
        </p:txBody>
      </p:sp>
      <p:sp>
        <p:nvSpPr>
          <p:cNvPr id="47" name="note-76"/>
          <p:cNvSpPr txBox="1"/>
          <p:nvPr/>
        </p:nvSpPr>
        <p:spPr>
          <a:xfrm>
            <a:off x="8238744" y="51297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B2430"/>
                </a:solidFill>
              </a:rPr>
              <a:t>印出 0</a:t>
            </a:r>
            <a:endParaRPr lang="en-US" sz="1100" dirty="0"/>
          </a:p>
        </p:txBody>
      </p:sp>
      <p:sp>
        <p:nvSpPr>
          <p:cNvPr id="48" name="note-77"/>
          <p:cNvSpPr txBox="1"/>
          <p:nvPr/>
        </p:nvSpPr>
        <p:spPr>
          <a:xfrm>
            <a:off x="10616184" y="54772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0392B"/>
                </a:solidFill>
              </a:rPr>
              <a:t>收到 END</a:t>
            </a:r>
            <a:endParaRPr lang="en-US" sz="1100" dirty="0"/>
          </a:p>
        </p:txBody>
      </p:sp>
      <p:sp>
        <p:nvSpPr>
          <p:cNvPr id="49" name="note-78"/>
          <p:cNvSpPr txBox="1"/>
          <p:nvPr/>
        </p:nvSpPr>
        <p:spPr>
          <a:xfrm>
            <a:off x="82296" y="58247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0392B"/>
                </a:solidFill>
              </a:rPr>
              <a:t>收到 END</a:t>
            </a:r>
            <a:endParaRPr lang="en-US" sz="1100" dirty="0"/>
          </a:p>
        </p:txBody>
      </p:sp>
      <p:sp>
        <p:nvSpPr>
          <p:cNvPr id="50" name="par-fragment"/>
          <p:cNvSpPr/>
          <p:nvPr/>
        </p:nvSpPr>
        <p:spPr>
          <a:xfrm>
            <a:off x="228600" y="3529584"/>
            <a:ext cx="11750040" cy="2615184"/>
          </a:xfrm>
          <a:prstGeom prst="rect">
            <a:avLst/>
          </a:prstGeom>
          <a:ln w="12700">
            <a:solidFill>
              <a:srgbClr val="5B7083"/>
            </a:solidFill>
            <a:prstDash val="dash"/>
          </a:ln>
        </p:spPr>
      </p:sp>
      <p:sp>
        <p:nvSpPr>
          <p:cNvPr id="51" name="par-label"/>
          <p:cNvSpPr txBox="1"/>
          <p:nvPr/>
        </p:nvSpPr>
        <p:spPr>
          <a:xfrm>
            <a:off x="228600" y="3529584"/>
            <a:ext cx="1143000" cy="256032"/>
          </a:xfrm>
          <a:prstGeom prst="rect">
            <a:avLst/>
          </a:prstGeom>
          <a:solidFill>
            <a:srgbClr val="EEF4F8"/>
          </a:solidFill>
          <a:ln w="12700">
            <a:solidFill>
              <a:srgbClr val="5B708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par 同時進行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執行結果：一個 Server 同時服務三個 Client</a:t>
            </a:r>
            <a:endParaRPr lang="en-US" sz="3000" dirty="0"/>
          </a:p>
        </p:txBody>
      </p:sp>
      <p:pic>
        <p:nvPicPr>
          <p:cNvPr id="3" name="shot-server" descr="/home/user/JRTTF/lab5_concurrent_server/screenshots/cli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663440" cy="5169281"/>
          </a:xfrm>
          <a:prstGeom prst="rect">
            <a:avLst/>
          </a:prstGeom>
        </p:spPr>
      </p:pic>
      <p:pic>
        <p:nvPicPr>
          <p:cNvPr id="4" name="shot-clients" descr="/home/user/JRTTF/lab5_concurrent_server/screenshots/cli_clients_concur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097280"/>
            <a:ext cx="3108960" cy="4372211"/>
          </a:xfrm>
          <a:prstGeom prst="rect">
            <a:avLst/>
          </a:prstGeom>
        </p:spPr>
      </p:pic>
      <p:sp>
        <p:nvSpPr>
          <p:cNvPr id="5" name="result-text"/>
          <p:cNvSpPr txBox="1"/>
          <p:nvPr/>
        </p:nvSpPr>
        <p:spPr>
          <a:xfrm>
            <a:off x="8778240" y="11887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Thread 2、3、4 交錯收到數值：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三個 Client 同時被 Server 服務。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Server 每一步延遲 1 秒：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同時處理，約 3 秒全部完成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(10:56:31 → 10:56:34)；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若逐一處理，約需 6 秒。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5 Network">
  <a:themeElements>
    <a:clrScheme name="Lab5 Network">
      <a:dk1>
        <a:srgbClr val="1B2430"/>
      </a:dk1>
      <a:lt1>
        <a:srgbClr val="FFFFFF"/>
      </a:lt1>
      <a:dk2>
        <a:srgbClr val="0B3C5D"/>
      </a:dk2>
      <a:lt2>
        <a:srgbClr val="EEF4F8"/>
      </a:lt2>
      <a:accent1>
        <a:srgbClr val="0B6E8A"/>
      </a:accent1>
      <a:accent2>
        <a:srgbClr val="E08A1E"/>
      </a:accent2>
      <a:accent3>
        <a:srgbClr val="C0392B"/>
      </a:accent3>
      <a:accent4>
        <a:srgbClr val="5B7083"/>
      </a:accent4>
      <a:accent5>
        <a:srgbClr val="2E8B57"/>
      </a:accent5>
      <a:accent6>
        <a:srgbClr val="7A5195"/>
      </a:accent6>
      <a:hlink>
        <a:srgbClr val="0B6E8A"/>
      </a:hlink>
      <a:folHlink>
        <a:srgbClr val="7A5195"/>
      </a:folHlink>
    </a:clrScheme>
    <a:fontScheme name="Lab5 Network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5 – Concurrent Server 循序圖</dc:title>
  <dc:subject>PptxGenJS Presentation</dc:subject>
  <dc:creator>陳嘉希 D1211110</dc:creator>
  <cp:lastModifiedBy>陳嘉希 D1211110</cp:lastModifiedBy>
  <cp:revision>1</cp:revision>
  <dcterms:created xsi:type="dcterms:W3CDTF">2026-10-19T11:01:33Z</dcterms:created>
  <dcterms:modified xsi:type="dcterms:W3CDTF">2026-10-19T11:01:33Z</dcterms:modified>
</cp:coreProperties>
</file>